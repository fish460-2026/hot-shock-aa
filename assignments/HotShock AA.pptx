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5e881cd7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5e881cd7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5e881cd7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5e881cd7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e881cd7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5e881cd7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5e881cd7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5e881cd7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e881cd7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5e881cd7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e881cd77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5e881cd77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12c1a7d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712c1a7d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5e881cd77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5e881cd7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6c8bd06a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6c8bd06a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5e881cd77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5e881cd7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5584ee3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5584ee3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584ee3c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5584ee3c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5e881cd77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5e881cd77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9.jpg"/><Relationship Id="rId5" Type="http://schemas.openxmlformats.org/officeDocument/2006/relationships/image" Target="../media/image8.jpg"/><Relationship Id="rId6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i.org/10.2307/1538998" TargetMode="External"/><Relationship Id="rId4" Type="http://schemas.openxmlformats.org/officeDocument/2006/relationships/hyperlink" Target="https://doi.org/10.1007/s00227-024-04449-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Effects of Elevated Water Temperature and Desiccation on Competing Intertidal Crabs, </a:t>
            </a:r>
            <a:r>
              <a:rPr b="1" i="1" lang="en" sz="2400"/>
              <a:t>Hemigrapsus oregonensis </a:t>
            </a:r>
            <a:r>
              <a:rPr b="1" lang="en" sz="2400"/>
              <a:t>and </a:t>
            </a:r>
            <a:r>
              <a:rPr b="1" i="1" lang="en" sz="2400"/>
              <a:t>Carcinus maenas</a:t>
            </a:r>
            <a:endParaRPr sz="65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Chloe Rusk, Rachel Kasbohm, Keely Rundle</a:t>
            </a:r>
            <a:endParaRPr sz="1600"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00" y="3376200"/>
            <a:ext cx="2356426" cy="17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5750" y="110325"/>
            <a:ext cx="2159126" cy="11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067300" y="1262525"/>
            <a:ext cx="28383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Puget Sound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Seasonal temperature variation: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8 - 13°C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Climate change: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Expected to increase </a:t>
            </a:r>
            <a:r>
              <a:rPr lang="en"/>
              <a:t>0.5-1°C by 2050; max average of 19.6°C, minimum 8.7°C (Walker 2022).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229000" y="1262525"/>
            <a:ext cx="28383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Crabs</a:t>
            </a:r>
            <a:endParaRPr sz="18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Hemigrapsus oregonensis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Carcinus maenas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5905600" y="1262525"/>
            <a:ext cx="2838300" cy="3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Temperature/Desiccation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Effects: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Desiccation increases ‘felt’ temperature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Ectotherms – metabolism changes with temperature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H. oregonensis</a:t>
            </a:r>
            <a:r>
              <a:rPr lang="en"/>
              <a:t> are stenotherms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2236588"/>
            <a:ext cx="1832223" cy="1221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846" y="3825875"/>
            <a:ext cx="1882325" cy="122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4"/>
          <p:cNvCxnSpPr/>
          <p:nvPr/>
        </p:nvCxnSpPr>
        <p:spPr>
          <a:xfrm>
            <a:off x="3022225" y="1298675"/>
            <a:ext cx="0" cy="356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/>
          <p:nvPr/>
        </p:nvCxnSpPr>
        <p:spPr>
          <a:xfrm>
            <a:off x="5832250" y="1298675"/>
            <a:ext cx="19500" cy="359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 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Knowing the physiological tolerances of these two crabs allows us to: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Compare thermal tolerances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Estimate spatial ranges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data has numerous applications, such 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Informing conservation efforts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Determining the risk factor of invasive species on local fisheries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study will focus on the effect of summer conditions on both </a:t>
            </a:r>
            <a:r>
              <a:rPr i="1" lang="en"/>
              <a:t>H. oregonensis</a:t>
            </a:r>
            <a:r>
              <a:rPr lang="en"/>
              <a:t> and </a:t>
            </a:r>
            <a:r>
              <a:rPr i="1" lang="en"/>
              <a:t>C. maenas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summer conditions: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High temperatures both in and out of water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Increased temperature in tide pools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Summer conditions exacerbated by climate change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the effect on </a:t>
            </a:r>
            <a:r>
              <a:rPr i="1" lang="en"/>
              <a:t>H. oregonensis</a:t>
            </a:r>
            <a:r>
              <a:rPr lang="en"/>
              <a:t> and </a:t>
            </a:r>
            <a:r>
              <a:rPr i="1" lang="en"/>
              <a:t>C. maenas</a:t>
            </a:r>
            <a:r>
              <a:rPr lang="en"/>
              <a:t>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Comparing the effects of a stressor on a native crab versus an invasive crab species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Can help inform how each species will respond to global warming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Important for native species conservation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2579851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temperature stress and desiccation affect the metabolic rate of </a:t>
            </a:r>
            <a:r>
              <a:rPr i="1" lang="en"/>
              <a:t>Carcinus maenas </a:t>
            </a:r>
            <a:r>
              <a:rPr lang="en"/>
              <a:t>and </a:t>
            </a:r>
            <a:r>
              <a:rPr i="1" lang="en"/>
              <a:t>Hemigrapsus oregonensis</a:t>
            </a:r>
            <a:r>
              <a:rPr lang="en"/>
              <a:t>?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6125" y="2923500"/>
            <a:ext cx="1976174" cy="197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514132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262333" y="1569721"/>
            <a:ext cx="8520600" cy="24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</a:t>
            </a:r>
            <a:r>
              <a:rPr baseline="-25000" lang="en">
                <a:solidFill>
                  <a:schemeClr val="dk1"/>
                </a:solidFill>
              </a:rPr>
              <a:t>0</a:t>
            </a:r>
            <a:r>
              <a:rPr lang="en">
                <a:solidFill>
                  <a:schemeClr val="dk1"/>
                </a:solidFill>
              </a:rPr>
              <a:t>: Temperature and desiccation will have no impact on crab </a:t>
            </a:r>
            <a:r>
              <a:rPr lang="en"/>
              <a:t>metabolic rate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</a:t>
            </a:r>
            <a:r>
              <a:rPr baseline="-25000" lang="en">
                <a:solidFill>
                  <a:schemeClr val="dk1"/>
                </a:solidFill>
              </a:rPr>
              <a:t>A1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/>
              <a:t>Metabolic</a:t>
            </a:r>
            <a:r>
              <a:rPr lang="en">
                <a:solidFill>
                  <a:schemeClr val="dk1"/>
                </a:solidFill>
              </a:rPr>
              <a:t> rate, as a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proxy for stress, will be higher in crabs exposed to elevated water temperatures while in the water and after desiccation.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H</a:t>
            </a:r>
            <a:r>
              <a:rPr baseline="-25000" lang="en">
                <a:solidFill>
                  <a:schemeClr val="dk1"/>
                </a:solidFill>
              </a:rPr>
              <a:t>A2</a:t>
            </a:r>
            <a:r>
              <a:rPr lang="en">
                <a:solidFill>
                  <a:schemeClr val="dk1"/>
                </a:solidFill>
              </a:rPr>
              <a:t>: European green crabs </a:t>
            </a:r>
            <a:r>
              <a:rPr i="1" lang="en">
                <a:solidFill>
                  <a:schemeClr val="dk1"/>
                </a:solidFill>
              </a:rPr>
              <a:t>Carcinus maenus</a:t>
            </a:r>
            <a:r>
              <a:rPr lang="en">
                <a:solidFill>
                  <a:schemeClr val="dk1"/>
                </a:solidFill>
              </a:rPr>
              <a:t> will have a less extreme response to the stressors than hairy shore crabs </a:t>
            </a:r>
            <a:r>
              <a:rPr i="1" lang="en">
                <a:solidFill>
                  <a:schemeClr val="dk1"/>
                </a:solidFill>
              </a:rPr>
              <a:t>Hemigrapsus oregonensis. 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I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87900" y="1489825"/>
            <a:ext cx="6168600" cy="3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Total: 12 </a:t>
            </a:r>
            <a:r>
              <a:rPr i="1" lang="en" sz="1700" u="sng"/>
              <a:t>Hemigrapsus </a:t>
            </a:r>
            <a:r>
              <a:rPr i="1" lang="en" sz="1700" u="sng"/>
              <a:t>oregonensis</a:t>
            </a:r>
            <a:r>
              <a:rPr lang="en" sz="1700"/>
              <a:t>, 2 </a:t>
            </a:r>
            <a:r>
              <a:rPr i="1" lang="en" sz="1700" u="sng"/>
              <a:t>Carcinus maenas</a:t>
            </a:r>
            <a:endParaRPr i="1" sz="1700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Control group 5 </a:t>
            </a:r>
            <a:r>
              <a:rPr i="1" lang="en" sz="1200"/>
              <a:t>H. oregonensis</a:t>
            </a:r>
            <a:r>
              <a:rPr lang="en" sz="1200"/>
              <a:t>, 1 </a:t>
            </a:r>
            <a:r>
              <a:rPr i="1" lang="en" sz="1200"/>
              <a:t>C. maenus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Experimental group 5 </a:t>
            </a:r>
            <a:r>
              <a:rPr i="1" lang="en" sz="1200"/>
              <a:t>H oregonensis,</a:t>
            </a:r>
            <a:r>
              <a:rPr lang="en" sz="1200"/>
              <a:t> 1 </a:t>
            </a:r>
            <a:r>
              <a:rPr i="1" lang="en" sz="1200"/>
              <a:t>C. maenus</a:t>
            </a:r>
            <a:endParaRPr sz="1000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 had 2 mortalities of H. oregonensis, which were replaced with backup crabs one in the control group and one in the experimental group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6500" y="104675"/>
            <a:ext cx="1979274" cy="2639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74" y="2571750"/>
            <a:ext cx="1732550" cy="2310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26499" y="2878200"/>
            <a:ext cx="1637276" cy="21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 title="IMG_0894.jpeg"/>
          <p:cNvPicPr preferRelativeResize="0"/>
          <p:nvPr/>
        </p:nvPicPr>
        <p:blipFill rotWithShape="1">
          <a:blip r:embed="rId6">
            <a:alphaModFix/>
          </a:blip>
          <a:srcRect b="0" l="31778" r="13575" t="0"/>
          <a:stretch/>
        </p:blipFill>
        <p:spPr>
          <a:xfrm rot="-5400000">
            <a:off x="3503627" y="1517612"/>
            <a:ext cx="2108248" cy="514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II (First Lab Session)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87900" y="1489825"/>
            <a:ext cx="4987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Resazurin protocol: measured every 10 </a:t>
            </a:r>
            <a:r>
              <a:rPr lang="en"/>
              <a:t>minutes</a:t>
            </a:r>
            <a:r>
              <a:rPr lang="en"/>
              <a:t> for one hour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Resazurin wells placed in water baths to maintain temperature of 14 C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i="1" lang="en"/>
              <a:t>H. Oregonensis</a:t>
            </a:r>
            <a:r>
              <a:rPr lang="en"/>
              <a:t> placed in six well plate using 8 ml resazurin</a:t>
            </a:r>
            <a:endParaRPr i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➢"/>
            </a:pPr>
            <a:r>
              <a:rPr i="1" lang="en"/>
              <a:t>C. maenus </a:t>
            </a:r>
            <a:r>
              <a:rPr lang="en"/>
              <a:t>in condiment cups using 40 ml resazurin</a:t>
            </a:r>
            <a:r>
              <a:rPr lang="en" sz="1400"/>
              <a:t> </a:t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756087" y="981015"/>
            <a:ext cx="2688899" cy="3585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III (Second and third lab sessions)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87900" y="1415075"/>
            <a:ext cx="4184100" cy="3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5882"/>
              <a:buChar char="➢"/>
            </a:pPr>
            <a:r>
              <a:rPr lang="en"/>
              <a:t>Reran resazurin protocol, dividing into control group held at 14 C and experimental group held at 24 C for one hour</a:t>
            </a:r>
            <a:endParaRPr sz="1700"/>
          </a:p>
          <a:p>
            <a:pPr indent="-328454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➢"/>
            </a:pPr>
            <a:r>
              <a:rPr lang="en" sz="1700"/>
              <a:t>Place crabs in heated corrals (substrate at 30C) for 30 minutes, separating shore crabs from green crabs</a:t>
            </a:r>
            <a:endParaRPr sz="1700"/>
          </a:p>
          <a:p>
            <a:pPr indent="-328454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➢"/>
            </a:pPr>
            <a:r>
              <a:rPr lang="en" sz="1700"/>
              <a:t>Returned crabs to resazurin treatments, at the same temperatures as in previous step for an additional hour</a:t>
            </a:r>
            <a:endParaRPr sz="1212"/>
          </a:p>
        </p:txBody>
      </p:sp>
      <p:pic>
        <p:nvPicPr>
          <p:cNvPr id="126" name="Google Shape;126;p21" title="Dessication Setu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200" y="2745925"/>
            <a:ext cx="2998323" cy="22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3819" y="1144125"/>
            <a:ext cx="1925349" cy="256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IV (Data and analysis)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87900" y="1435395"/>
            <a:ext cx="8368200" cy="31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Carapace length*. 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Crab weight will be used to normalize metabolic rates.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Actual temperatures of the water and the air and substrate temperatures under the heat lamp. 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Used the </a:t>
            </a:r>
            <a:r>
              <a:rPr lang="en"/>
              <a:t>fluorescence values to calculate a slope, this slope is the metabolic rate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Average the total change in metabolic rate between treatments (crab species, temperature, pre/post-desiccation) and the average metabolic rate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2-way ANOVA with a Tukey test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47"/>
              <a:t>*Data not used in actual analysis, just for reference </a:t>
            </a:r>
            <a:endParaRPr sz="1447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87900" y="-59508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39" name="Google Shape;139;p23" title="Screenshot 2026-05-22 at 12.11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2" y="589928"/>
            <a:ext cx="4977701" cy="355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Screenshot 2026-05-22 at 12.28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625" y="706636"/>
            <a:ext cx="4032602" cy="312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/>
        </p:nvSpPr>
        <p:spPr>
          <a:xfrm>
            <a:off x="53500" y="4148250"/>
            <a:ext cx="49014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1: Mean metabolic rate as fold change in resazurin fluorescence/mm for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Hemigrapsus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(A) and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Carcinus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(B) at different temperatures before (Pre) and after (Post) desiccation. The y-axis scale for the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Carcinus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lower than the y-axis scale for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Hemigrapsus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due to the much lower overall metabolic rate. “a” is significantly different from “b” (p-val &lt; 0.05). * p-val &lt; 0.05. Error bars indicate </a:t>
            </a:r>
            <a:r>
              <a:rPr lang="en" sz="1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SD.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5502200" y="3910275"/>
            <a:ext cx="34455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2. Percent change in metabolic rate after desiccation of each crab species for the different temperature trials. Error bars indicate </a:t>
            </a:r>
            <a:r>
              <a:rPr lang="en" sz="1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SD. * p-val &lt; 0.05 between the temperature trials.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87900" y="10262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37225" y="1283420"/>
            <a:ext cx="8368200" cy="31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533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95"/>
              <a:buChar char="➢"/>
            </a:pPr>
            <a:r>
              <a:rPr lang="en" sz="1495"/>
              <a:t>Crabs held in cooler water are more susceptible to the effects of desiccation than those in warmer water.</a:t>
            </a:r>
            <a:endParaRPr sz="1495"/>
          </a:p>
          <a:p>
            <a:pPr indent="-303848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Warm treatment crabs already had a high metabolic rate; difference after desiccation was likely less pronounced because of this.</a:t>
            </a:r>
            <a:endParaRPr sz="1185"/>
          </a:p>
          <a:p>
            <a:pPr indent="-303848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Crabs exposed to </a:t>
            </a:r>
            <a:r>
              <a:rPr lang="en" sz="1185"/>
              <a:t>desiccation after being in a cool tidal pool would experience more stress than those in a warm pool.</a:t>
            </a:r>
            <a:endParaRPr sz="1185"/>
          </a:p>
          <a:p>
            <a:pPr indent="-323533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95"/>
              <a:buChar char="➢"/>
            </a:pPr>
            <a:r>
              <a:rPr i="1" lang="en" sz="1495"/>
              <a:t>Hemigrapsus </a:t>
            </a:r>
            <a:r>
              <a:rPr lang="en" sz="1495"/>
              <a:t>tended to have a higher metabolic rate overall, though </a:t>
            </a:r>
            <a:r>
              <a:rPr i="1" lang="en" sz="1495"/>
              <a:t>Carcinus </a:t>
            </a:r>
            <a:r>
              <a:rPr lang="en" sz="1495"/>
              <a:t>had a higher Q10 when calculated from the pre-desiccation rates (</a:t>
            </a:r>
            <a:r>
              <a:rPr i="1" lang="en" sz="1495"/>
              <a:t>Hemigrapsus </a:t>
            </a:r>
            <a:r>
              <a:rPr lang="en" sz="1495"/>
              <a:t>= 1.5, </a:t>
            </a:r>
            <a:r>
              <a:rPr i="1" lang="en" sz="1495"/>
              <a:t>Carcinus </a:t>
            </a:r>
            <a:r>
              <a:rPr lang="en" sz="1495"/>
              <a:t>= 6.4).</a:t>
            </a:r>
            <a:endParaRPr sz="1495"/>
          </a:p>
          <a:p>
            <a:pPr indent="-303848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Could be a result of the lower metabolic rate for </a:t>
            </a:r>
            <a:r>
              <a:rPr i="1" lang="en" sz="1185"/>
              <a:t>Carcinus </a:t>
            </a:r>
            <a:r>
              <a:rPr lang="en" sz="1185"/>
              <a:t>overall; slight change seems more pronounced </a:t>
            </a:r>
            <a:endParaRPr sz="1185"/>
          </a:p>
          <a:p>
            <a:pPr indent="-323533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95"/>
              <a:buChar char="➢"/>
            </a:pPr>
            <a:r>
              <a:rPr lang="en" sz="1495"/>
              <a:t>Change</a:t>
            </a:r>
            <a:r>
              <a:rPr lang="en" sz="1495"/>
              <a:t> in metabolic rate did not change significantly between species.</a:t>
            </a:r>
            <a:endParaRPr sz="1495"/>
          </a:p>
          <a:p>
            <a:pPr indent="-323533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95"/>
              <a:buChar char="➢"/>
            </a:pPr>
            <a:r>
              <a:rPr i="1" lang="en" sz="1495"/>
              <a:t>Carcinus </a:t>
            </a:r>
            <a:r>
              <a:rPr lang="en" sz="1495"/>
              <a:t>metabolic rates decreased after desiccation, though not significantly so.</a:t>
            </a:r>
            <a:endParaRPr sz="1495"/>
          </a:p>
          <a:p>
            <a:pPr indent="-303848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85"/>
              <a:buChar char="○"/>
            </a:pPr>
            <a:r>
              <a:rPr lang="en" sz="1185"/>
              <a:t>A potential response to stress? More replicates could potentially reveal a more </a:t>
            </a:r>
            <a:r>
              <a:rPr lang="en" sz="1185"/>
              <a:t>significant</a:t>
            </a:r>
            <a:r>
              <a:rPr lang="en" sz="1185"/>
              <a:t> relationship.</a:t>
            </a:r>
            <a:endParaRPr sz="118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87900" y="10262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Studies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37225" y="1334070"/>
            <a:ext cx="8368200" cy="31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MORE GREEN CRABS!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results were not significantly different likely as a result of only having two EGCs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Measure metabolic rate during desiccation period.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Measure other stress proxies.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Hemolymph </a:t>
            </a:r>
            <a:r>
              <a:rPr lang="en"/>
              <a:t>osmolality</a:t>
            </a:r>
            <a:r>
              <a:rPr lang="en"/>
              <a:t>, proteins, heart rate, etc.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Compare lab results to a field study.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rates in the wild?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Dehnel, P. A. (1960). Effect of Temperature and Salinity on the Oxygen Consumption of Two Intertidal Crabs. </a:t>
            </a:r>
            <a:r>
              <a:rPr i="1" lang="en" sz="1000">
                <a:solidFill>
                  <a:schemeClr val="dk1"/>
                </a:solidFill>
              </a:rPr>
              <a:t>Biological Bulletin</a:t>
            </a:r>
            <a:r>
              <a:rPr lang="en" sz="1000">
                <a:solidFill>
                  <a:schemeClr val="dk1"/>
                </a:solidFill>
              </a:rPr>
              <a:t>, </a:t>
            </a:r>
            <a:r>
              <a:rPr i="1" lang="en" sz="1000">
                <a:solidFill>
                  <a:schemeClr val="dk1"/>
                </a:solidFill>
              </a:rPr>
              <a:t>118</a:t>
            </a:r>
            <a:r>
              <a:rPr lang="en" sz="1000">
                <a:solidFill>
                  <a:schemeClr val="dk1"/>
                </a:solidFill>
              </a:rPr>
              <a:t>(2), 215–249. </a:t>
            </a:r>
            <a:r>
              <a:rPr lang="en" sz="10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https://doi.org/10.2307/1538998</a:t>
            </a:r>
            <a:endParaRPr sz="10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Griffen, Blaine D, et al. “Variation in Metabolic Rate during Low Tide Aerial Exposure in the Asian Shore Crab </a:t>
            </a:r>
            <a:r>
              <a:rPr i="1" lang="en" sz="1000"/>
              <a:t>Hemigrapsus Sanguineus</a:t>
            </a:r>
            <a:r>
              <a:rPr lang="en" sz="1000"/>
              <a:t>.” M</a:t>
            </a:r>
            <a:r>
              <a:rPr i="1" lang="en" sz="1000"/>
              <a:t>arine Biology</a:t>
            </a:r>
            <a:r>
              <a:rPr lang="en" sz="1000"/>
              <a:t>, vol. 171, no. 6, 8 May 2024, 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https://doi.org/10.1007/s00227-024-04449-8</a:t>
            </a:r>
            <a:r>
              <a:rPr lang="en" sz="1000"/>
              <a:t>.</a:t>
            </a:r>
            <a:endParaRPr sz="10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-457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TODD, M., DEHNEL, P., TODD, M.-E., &amp; DEHNEL, P. A. (1960). EFFECT OF TEMPERATURE AND SALINITY ON HEAT TOLERANCE IN TWO GRAPSOID CRABS, HEMIGRAPSUS NUDUS AND HEMIGRAPSUS OREGONENSIS. </a:t>
            </a:r>
            <a:r>
              <a:rPr i="1" lang="en" sz="1000">
                <a:solidFill>
                  <a:schemeClr val="dk1"/>
                </a:solidFill>
              </a:rPr>
              <a:t>Biological Bulletin.</a:t>
            </a:r>
            <a:r>
              <a:rPr lang="en" sz="1000">
                <a:solidFill>
                  <a:schemeClr val="dk1"/>
                </a:solidFill>
              </a:rPr>
              <a:t>, </a:t>
            </a:r>
            <a:r>
              <a:rPr i="1" lang="en" sz="1000">
                <a:solidFill>
                  <a:schemeClr val="dk1"/>
                </a:solidFill>
              </a:rPr>
              <a:t>118</a:t>
            </a:r>
            <a:r>
              <a:rPr lang="en" sz="1000">
                <a:solidFill>
                  <a:schemeClr val="dk1"/>
                </a:solidFill>
              </a:rPr>
              <a:t>(1), 150–172. </a:t>
            </a:r>
            <a:endParaRPr sz="1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-457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Tepolt, C. K., and G. N. Somero. “Master of All Trades: Thermal Acclimation and Adaptation of Cardiac Function in a Broadly Distributed Marine Invasive Species, the European Green Crab, </a:t>
            </a:r>
            <a:r>
              <a:rPr i="1" lang="en" sz="1000"/>
              <a:t>Carcinus Maenas</a:t>
            </a:r>
            <a:r>
              <a:rPr lang="en" sz="1000"/>
              <a:t>.” </a:t>
            </a:r>
            <a:r>
              <a:rPr i="1" lang="en" sz="1000"/>
              <a:t>Journal of Experimental Biology</a:t>
            </a:r>
            <a:r>
              <a:rPr lang="en" sz="1000"/>
              <a:t>, vol. 217, no. 7, 26 Mar. 2014, pp. 1129–1138, https://doi.org/10.1242/jeb.093849. Accessed 24 Apr. 2020.</a:t>
            </a:r>
            <a:endParaRPr sz="1000"/>
          </a:p>
          <a:p>
            <a:pPr indent="-457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Walker, S., Mozaria-Luna, H. N., Kaplan, I., &amp; Petatán-Ramírez, D. (2022). Future temperature and salinity in Puget Sound, Washington State, under CMIP6 climate change scenarios. </a:t>
            </a:r>
            <a:r>
              <a:rPr i="1" lang="en" sz="1000">
                <a:solidFill>
                  <a:schemeClr val="dk1"/>
                </a:solidFill>
              </a:rPr>
              <a:t>Journal of Water and Climate Change.</a:t>
            </a:r>
            <a:r>
              <a:rPr lang="en" sz="1000">
                <a:solidFill>
                  <a:schemeClr val="dk1"/>
                </a:solidFill>
              </a:rPr>
              <a:t>, </a:t>
            </a:r>
            <a:r>
              <a:rPr i="1" lang="en" sz="1000">
                <a:solidFill>
                  <a:schemeClr val="dk1"/>
                </a:solidFill>
              </a:rPr>
              <a:t>13</a:t>
            </a:r>
            <a:r>
              <a:rPr lang="en" sz="1000">
                <a:solidFill>
                  <a:schemeClr val="dk1"/>
                </a:solidFill>
              </a:rPr>
              <a:t>(12), 4255–4272. 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